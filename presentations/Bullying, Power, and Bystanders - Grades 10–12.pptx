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Bullying, Power,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B2777"/>
                </a:solidFill>
                <a:latin typeface="Montserrat"/>
              </a:rPr>
              <a:t>and Bystanders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27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64%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students who are bullied do not report it — fearing retaliation or being dismissed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Bullying is significantly under-reported, making it harder to address systematically.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Lasting Impact of Bullying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Victims: 2–9× more likely to consider suicide (Yale study)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PTSD symptoms documented in 40% of severe bullying victims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Decreased academic performance: avg GPA drops 0.5 points per year of bullying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anxiety and avoidance can persist into adulthood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Early intervention is critical — untreated bullying creates lasting neural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Legal &amp; School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All Canadian provinces have specific anti-bullying legislation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Schools have a legal duty of care to provide safe environments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Cyberbullying can constitute criminal harassment under Criminal Code s.264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Schools can act on off-campus cyberbullying that disrupts school environment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Document everything: dates, screenshots, witnesses — essential for formal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If Formal Intervention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Start with the school's safe schools contact (required by law)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Escalate to VP/Principal if unresolved — put requests in writing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Contact school board if school fails to act adequately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Police involvement for: criminal threats, sexual content, extortion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Legal aid and human rights complaints available for systemic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8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B2777"/>
                </a:solidFill>
                <a:latin typeface="Montserrat"/>
              </a:rPr>
              <a:t>Restorative Approaches Work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Restorative justice practices reduce repeat bullying by 40% compared to punitive-only approaches.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The goal is not punishment but changing behavior and repairing harm. Evidence supports this approach.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B277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Bullying is a systemic issue requiring systemic solutions — not just individual 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Know your rights and the school's legal obligations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Documenting, reporting, and escalating are legitimate and necessary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PREVNet: prevnet.ca/resources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cybertip.ca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B277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