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0"/>
            <a:ext cx="624535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943600" y="0"/>
            <a:ext cx="1371600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82296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Montserrat"/>
              </a:rPr>
              <a:t>Stress: 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D9488"/>
                </a:solidFill>
                <a:latin typeface="Montserrat"/>
              </a:rPr>
              <a:t>It, Control 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5212080"/>
            <a:ext cx="2560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ontserrat"/>
              </a:rPr>
              <a:t>Grades 7–9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5943600" cy="868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3657600"/>
            <a:ext cx="5486400" cy="54864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0" b="1" i="0">
                <a:solidFill>
                  <a:srgbClr val="FFFFFF"/>
                </a:solidFill>
                <a:latin typeface="Montserrat"/>
              </a:rPr>
              <a:t>1 in 3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4251960"/>
            <a:ext cx="5788152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70832"/>
            <a:ext cx="103601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Montserrat"/>
              </a:rPr>
              <a:t>Canadian teens report feeling overwhelming stress on a weekly basis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FFFF"/>
                </a:solidFill>
                <a:latin typeface="Open Sans"/>
              </a:rPr>
              <a:t>Chronic stress is distinct from normal stress — and it has real consequences for health and brain development.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FFFFFF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The Biology of Stress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Amygdala detects threat → triggers hypothalamus → releases cortisol and adrenaline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Fight-or-flight response: increased heart rate, blood pressure, alert state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Cortisol shuts down non-essential systems: digestion, immune, reproductive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Chronic stress keeps cortisol elevated — damaging to brain and body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Prefrontal cortex (rational thought) gets overridden by amygdala under high stress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94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371600"/>
            <a:ext cx="5029200" cy="502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92024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13716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Open Sans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ontserrat"/>
              </a:rPr>
              <a:t>Eustress vs. Distress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1920240"/>
            <a:ext cx="12188952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" y="2412187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Eustress: positive stress — motivates, improves performance, feels exciting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" y="3359505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050438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Distress: negative stress — overwhelms, impairs performance, damages health</a:t>
            </a:r>
          </a:p>
        </p:txBody>
      </p:sp>
      <p:sp>
        <p:nvSpPr>
          <p:cNvPr id="13" name="Oval 12"/>
          <p:cNvSpPr/>
          <p:nvPr/>
        </p:nvSpPr>
        <p:spPr>
          <a:xfrm>
            <a:off x="347472" y="4306824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997756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Same event can be eustress or distress depending on how you perceive it</a:t>
            </a:r>
          </a:p>
        </p:txBody>
      </p:sp>
      <p:sp>
        <p:nvSpPr>
          <p:cNvPr id="15" name="Oval 14"/>
          <p:cNvSpPr/>
          <p:nvPr/>
        </p:nvSpPr>
        <p:spPr>
          <a:xfrm>
            <a:off x="347472" y="5254142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4945075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Mindset shift: "challenge" vs. "threat" activates different physiological responses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" y="6201460"/>
            <a:ext cx="329184" cy="329184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892393"/>
            <a:ext cx="11064240" cy="892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11827"/>
                </a:solidFill>
                <a:latin typeface="Open Sans"/>
              </a:rPr>
              <a:t>Your interpretation of stress determines its impact more than the event itself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002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0"/>
            <a:ext cx="3227832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91440"/>
            <a:ext cx="1005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FFFFFF"/>
                </a:solidFill>
                <a:latin typeface="Open Sans"/>
              </a:rPr>
              <a:t>🛠️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ontserrat"/>
              </a:rPr>
              <a:t>Evidence-Based Stress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" y="173736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" y="1737360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30352" y="194310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94310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Diaphragmatic breathing: activates parasympathetic nervous system within 60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" y="2697479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6032" y="2697479"/>
            <a:ext cx="182880" cy="886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" y="29032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90322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2697479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Regular exercise: cortisol clearance and endorphin release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365760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3657600"/>
            <a:ext cx="182880" cy="88696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0352" y="3863339"/>
            <a:ext cx="475488" cy="475488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3863339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" y="365760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Sleep: cortisol resets during deep sleep — deprivation creates stress 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17720"/>
            <a:ext cx="11759184" cy="8869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17720"/>
            <a:ext cx="182880" cy="886968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30352" y="4823460"/>
            <a:ext cx="475488" cy="475488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482346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" y="461772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Social connection: oxytocin counters cortisol — talk to people face to face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" y="5577840"/>
            <a:ext cx="11759184" cy="88696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6032" y="5577840"/>
            <a:ext cx="182880" cy="8869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30352" y="578358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783580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" y="5577840"/>
            <a:ext cx="1069848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11827"/>
                </a:solidFill>
                <a:latin typeface="Open Sans"/>
              </a:rPr>
              <a:t>Journaling: externalizing stress reduces its perceived size by up to 30%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280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4E4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25603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100584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  <a:latin typeface="Open Sans"/>
              </a:rPr>
              <a:t>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107259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9488"/>
                </a:solidFill>
                <a:latin typeface="Montserrat"/>
              </a:rPr>
              <a:t>Stress and Academic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072591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Montserrat"/>
              </a:rPr>
              <a:t>Optimal stress (moderate intensity) improves performance. Too much or too little reduces it — this is the Yerkes-Dodson Law.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5394960"/>
            <a:ext cx="76169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532120"/>
            <a:ext cx="999439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4C0C8"/>
                </a:solidFill>
                <a:latin typeface="Open Sans"/>
              </a:rPr>
              <a:t>Learning to manage stress to the optimal zone is a superpower for performance under pressure.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0D948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1828800"/>
            <a:ext cx="6858000" cy="68580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2926080"/>
            <a:ext cx="5486400" cy="5486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1371600"/>
            <a:ext cx="4114800" cy="4114800"/>
          </a:xfrm>
          <a:prstGeom prst="ellipse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10916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9488"/>
                </a:solidFill>
                <a:latin typeface="Montserrat"/>
              </a:rPr>
              <a:t>KEY TAKEAWAYS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86384"/>
            <a:ext cx="944575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124712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124712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6816" y="960120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Stress is information — listen to it, then act</a:t>
            </a:r>
          </a:p>
        </p:txBody>
      </p:sp>
      <p:sp>
        <p:nvSpPr>
          <p:cNvPr id="12" name="Oval 11"/>
          <p:cNvSpPr/>
          <p:nvPr/>
        </p:nvSpPr>
        <p:spPr>
          <a:xfrm>
            <a:off x="1371600" y="1874520"/>
            <a:ext cx="438912" cy="438912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18745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1709928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The goal is not zero stress — it is managed, productive stress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624328"/>
            <a:ext cx="438912" cy="438912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624328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6816" y="2459736"/>
            <a:ext cx="978408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Open Sans"/>
              </a:rPr>
              <a:t>Building coping skills now protects your future self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37560"/>
            <a:ext cx="10725912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3429000"/>
            <a:ext cx="12188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9488"/>
                </a:solidFill>
                <a:latin typeface="Montserrat"/>
              </a:rPr>
              <a:t>Resources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813048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Headspace / Calm apps — free tier 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23944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mindfulness.org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34840"/>
            <a:ext cx="103601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DE8EE"/>
                </a:solidFill>
                <a:latin typeface="Open Sans"/>
              </a:rPr>
              <a:t>Kids Help Phone: 1-800-668-6868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D9488"/>
                </a:solidFill>
                <a:latin typeface="Open Sans"/>
              </a:rPr>
              <a:t>Together For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