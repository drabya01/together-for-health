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453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0" y="0"/>
            <a:ext cx="1371600" cy="6858000"/>
          </a:xfrm>
          <a:prstGeom prst="rect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229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Montserrat"/>
              </a:rPr>
              <a:t>CPR 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432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DC2626"/>
                </a:solidFill>
                <a:latin typeface="Montserrat"/>
              </a:rPr>
              <a:t>Emergency Response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212080"/>
            <a:ext cx="2560320" cy="5303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212080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Grades 10–12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989320"/>
            <a:ext cx="5943600" cy="8686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26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6858000" cy="6858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3657600"/>
            <a:ext cx="5486400" cy="5486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455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0" b="1" i="0">
                <a:solidFill>
                  <a:srgbClr val="FFFFFF"/>
                </a:solidFill>
                <a:latin typeface="Montserrat"/>
              </a:rPr>
              <a:t>350,000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4251960"/>
            <a:ext cx="5788152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370832"/>
            <a:ext cx="1036015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ontserrat"/>
              </a:rPr>
              <a:t>Canadians experience cardiac arrest outside hospital annually — only 10% survive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44575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FFFFFF"/>
                </a:solidFill>
                <a:latin typeface="Open Sans"/>
              </a:rPr>
              <a:t>Improving bystander CPR rates from 40% to 60% would save thousands of lives per year.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Open Sans"/>
              </a:rPr>
              <a:t>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The Physiology of Cardiac Arrest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20240"/>
            <a:ext cx="1218895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" y="2412187"/>
            <a:ext cx="329184" cy="329184"/>
          </a:xfrm>
          <a:prstGeom prst="ellipse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Ventricular fibrillation (VF): chaotic, ineffective heart contractions — most common cause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" y="3359505"/>
            <a:ext cx="329184" cy="329184"/>
          </a:xfrm>
          <a:prstGeom prst="ellipse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50438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Pulseless ventricular tachycardia (VT): rapid but ineffective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" y="4306824"/>
            <a:ext cx="329184" cy="329184"/>
          </a:xfrm>
          <a:prstGeom prst="ellipse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997756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Asystole: flatline — poor prognosis even with treatment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" y="5254142"/>
            <a:ext cx="329184" cy="329184"/>
          </a:xfrm>
          <a:prstGeom prst="ellipse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945075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Pulseless electrical activity (PEA): electrical activity without effective pumping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" y="6201460"/>
            <a:ext cx="329184" cy="329184"/>
          </a:xfrm>
          <a:prstGeom prst="ellipse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892393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CPR goal: maintain coronary perfusion pressure until defibrillation restores rhythm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600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91440"/>
            <a:ext cx="1005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Open Sans"/>
              </a:rPr>
              <a:t>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8412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ontserrat"/>
              </a:rPr>
              <a:t>Advanced Chain of Survival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73736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737360"/>
            <a:ext cx="182880" cy="8869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30352" y="1943100"/>
            <a:ext cx="475488" cy="47548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94310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173736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Early recognition: identify unresponsiveness + abnormal breathing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697479"/>
            <a:ext cx="11759184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" y="2697479"/>
            <a:ext cx="182880" cy="8869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0352" y="2903220"/>
            <a:ext cx="475488" cy="47548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90322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2697479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Immediate 9-1-1 activation: dispatch can guide CPR by phone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365760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" y="3657600"/>
            <a:ext cx="182880" cy="8869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0352" y="3863339"/>
            <a:ext cx="475488" cy="47548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863339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365760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High-quality CPR: rate 100–120 bpm, depth 5–6 cm, full recoil, minimal interruptions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4617720"/>
            <a:ext cx="11759184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4617720"/>
            <a:ext cx="182880" cy="886968"/>
          </a:xfrm>
          <a:prstGeom prst="rect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0352" y="4823460"/>
            <a:ext cx="475488" cy="475488"/>
          </a:xfrm>
          <a:prstGeom prst="ellipse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482346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" y="461772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Early defibrillation: AED within 3–5 min for witnessed VF — key determinant of survival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" y="557784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6032" y="5577840"/>
            <a:ext cx="182880" cy="8869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30352" y="5783580"/>
            <a:ext cx="475488" cy="475488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578358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" y="557784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Advanced care: paramedic interventions, hospital ACLS protocol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Open Sans"/>
              </a:rPr>
              <a:t>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High-Quality CPR — What the Evidence Shows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20240"/>
            <a:ext cx="1218895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" y="2412187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Compression rate 100–120 bpm: metronome or "Stayin' Alive" (103 bpm)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" y="3359505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50438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Depth 5–6 cm (2–2.4 in): inadequate depth is the most common CPR error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" y="4306824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997756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Full chest recoil between compressions: leaning on chest reduces effectiveness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" y="5254142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945075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Minimize interruptions: limit pauses to &lt;10 seconds (e.g., for defibrillation)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" y="62014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892393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2:30 compression-to-ventilation ratio for untrained bystanders: compressions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5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2560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100584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  <a:latin typeface="Open Sans"/>
              </a:rPr>
              <a:t>⚖️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10725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C2626"/>
                </a:solidFill>
                <a:latin typeface="Montserrat"/>
              </a:rPr>
              <a:t>The Legal Reality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1072591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Good Samaritan laws protect bystanders who provide CPR in good faith in all Canadian provinces.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5394960"/>
            <a:ext cx="7616952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9994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D4C0C8"/>
                </a:solidFill>
                <a:latin typeface="Open Sans"/>
              </a:rPr>
              <a:t>You cannot be sued for trying. The legal risk of not acting (and someone dying) is far greater.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C2626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6858000" cy="68580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2926080"/>
            <a:ext cx="5486400" cy="5486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-1371600"/>
            <a:ext cx="4114800" cy="4114800"/>
          </a:xfrm>
          <a:prstGeom prst="ellipse">
            <a:avLst/>
          </a:prstGeom>
          <a:solidFill>
            <a:srgbClr val="1D2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"/>
            <a:ext cx="110916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C2626"/>
                </a:solidFill>
                <a:latin typeface="Montserrat"/>
              </a:rPr>
              <a:t>KEY TAKEAWAYS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786384"/>
            <a:ext cx="9445752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1124712"/>
            <a:ext cx="438912" cy="43891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12471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6816" y="960120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CPR competency should be universal — consider getting certified today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1874520"/>
            <a:ext cx="438912" cy="43891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187452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1709928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High-quality compressions are the most important thing you can do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624328"/>
            <a:ext cx="438912" cy="43891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262432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6816" y="2459736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You now have the knowledge — the next step is practice and certification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337560"/>
            <a:ext cx="10725912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342900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C2626"/>
                </a:solidFill>
                <a:latin typeface="Montserrat"/>
              </a:rPr>
              <a:t>Resources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813048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Heart &amp; Stroke CPR: heartandstroke.ca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23944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St. John Ambulance: sja.ca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Red Cross First Aid: redcross.ca/firstaid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C2626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