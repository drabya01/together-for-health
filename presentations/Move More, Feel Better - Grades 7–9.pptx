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C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0"/>
            <a:ext cx="6245352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943600" y="0"/>
            <a:ext cx="1371600" cy="6858000"/>
          </a:xfrm>
          <a:prstGeom prst="rect">
            <a:avLst/>
          </a:prstGeom>
          <a:solidFill>
            <a:srgbClr val="0C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82296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00" b="1" i="0">
                <a:solidFill>
                  <a:srgbClr val="FFFFFF"/>
                </a:solidFill>
                <a:latin typeface="Montserrat"/>
              </a:rPr>
              <a:t>Move More,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74320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00" b="1" i="0">
                <a:solidFill>
                  <a:srgbClr val="0284C7"/>
                </a:solidFill>
                <a:latin typeface="Montserrat"/>
              </a:rPr>
              <a:t>Feel Better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5212080"/>
            <a:ext cx="2560320" cy="5303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5212080"/>
            <a:ext cx="2560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ontserrat"/>
              </a:rPr>
              <a:t>Grades 7–9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5989320"/>
            <a:ext cx="5943600" cy="86868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  <a:latin typeface="Open Sans"/>
              </a:rPr>
              <a:t>Together For Health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84C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828800" y="-1828800"/>
            <a:ext cx="6858000" cy="6858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3657600"/>
            <a:ext cx="5486400" cy="54864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7455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0" b="1" i="0">
                <a:solidFill>
                  <a:srgbClr val="FFFFFF"/>
                </a:solidFill>
                <a:latin typeface="Montserrat"/>
              </a:rPr>
              <a:t>60%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0" y="4251960"/>
            <a:ext cx="5788152" cy="640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370832"/>
            <a:ext cx="10360152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Montserrat"/>
              </a:rPr>
              <a:t>of Canadian youth are not meeting the 60-minute daily physical activity guideline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486400"/>
            <a:ext cx="9445752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1">
                <a:solidFill>
                  <a:srgbClr val="FFFFFF"/>
                </a:solidFill>
                <a:latin typeface="Open Sans"/>
              </a:rPr>
              <a:t>And screen time has doubled since the pandemic, replacing movement for millions of teens.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  <a:latin typeface="Open Sans"/>
              </a:rPr>
              <a:t>Together For Health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4A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01200" y="-1371600"/>
            <a:ext cx="5029200" cy="5029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920240"/>
          </a:xfrm>
          <a:prstGeom prst="rect">
            <a:avLst/>
          </a:prstGeom>
          <a:solidFill>
            <a:srgbClr val="0C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920240"/>
          </a:xfrm>
          <a:prstGeom prst="rect">
            <a:avLst/>
          </a:prstGeom>
          <a:solidFill>
            <a:srgbClr val="0C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0"/>
            <a:ext cx="3227832" cy="1920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137160"/>
            <a:ext cx="1097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0" i="0">
                <a:solidFill>
                  <a:srgbClr val="FFFFFF"/>
                </a:solidFill>
                <a:latin typeface="Open Sans"/>
              </a:rPr>
              <a:t>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0"/>
            <a:ext cx="7315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ontserrat"/>
              </a:rPr>
              <a:t>Exercise Changes Your Brain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920240"/>
            <a:ext cx="12188952" cy="4937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47472" y="2412187"/>
            <a:ext cx="329184" cy="329184"/>
          </a:xfrm>
          <a:prstGeom prst="ellipse">
            <a:avLst/>
          </a:prstGeom>
          <a:solidFill>
            <a:srgbClr val="0C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103120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Aerobic exercise triggers release of BDNF — "fertilizer for the brain"</a:t>
            </a:r>
          </a:p>
        </p:txBody>
      </p:sp>
      <p:sp>
        <p:nvSpPr>
          <p:cNvPr id="11" name="Oval 10"/>
          <p:cNvSpPr/>
          <p:nvPr/>
        </p:nvSpPr>
        <p:spPr>
          <a:xfrm>
            <a:off x="347472" y="3359505"/>
            <a:ext cx="329184" cy="329184"/>
          </a:xfrm>
          <a:prstGeom prst="ellipse">
            <a:avLst/>
          </a:prstGeom>
          <a:solidFill>
            <a:srgbClr val="0C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3050438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Increases hippocampus size — improves memory and learning</a:t>
            </a:r>
          </a:p>
        </p:txBody>
      </p:sp>
      <p:sp>
        <p:nvSpPr>
          <p:cNvPr id="13" name="Oval 12"/>
          <p:cNvSpPr/>
          <p:nvPr/>
        </p:nvSpPr>
        <p:spPr>
          <a:xfrm>
            <a:off x="347472" y="4306824"/>
            <a:ext cx="329184" cy="329184"/>
          </a:xfrm>
          <a:prstGeom prst="ellipse">
            <a:avLst/>
          </a:prstGeom>
          <a:solidFill>
            <a:srgbClr val="0C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3997756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Reduces cortisol (stress hormone) and increases endorphins</a:t>
            </a:r>
          </a:p>
        </p:txBody>
      </p:sp>
      <p:sp>
        <p:nvSpPr>
          <p:cNvPr id="15" name="Oval 14"/>
          <p:cNvSpPr/>
          <p:nvPr/>
        </p:nvSpPr>
        <p:spPr>
          <a:xfrm>
            <a:off x="347472" y="5254142"/>
            <a:ext cx="329184" cy="329184"/>
          </a:xfrm>
          <a:prstGeom prst="ellipse">
            <a:avLst/>
          </a:prstGeom>
          <a:solidFill>
            <a:srgbClr val="0C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4945075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Regular exercise reduces depression and anxiety as effectively as medication</a:t>
            </a:r>
          </a:p>
        </p:txBody>
      </p:sp>
      <p:sp>
        <p:nvSpPr>
          <p:cNvPr id="17" name="Oval 16"/>
          <p:cNvSpPr/>
          <p:nvPr/>
        </p:nvSpPr>
        <p:spPr>
          <a:xfrm>
            <a:off x="347472" y="6201460"/>
            <a:ext cx="329184" cy="329184"/>
          </a:xfrm>
          <a:prstGeom prst="ellipse">
            <a:avLst/>
          </a:prstGeom>
          <a:solidFill>
            <a:srgbClr val="0C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" y="5892393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Increases focus and attention for 2–4 hours after a workout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Open Sans"/>
              </a:rPr>
              <a:t>Together For Health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948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01200" y="-1371600"/>
            <a:ext cx="5029200" cy="5029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920240"/>
          </a:xfrm>
          <a:prstGeom prst="rect">
            <a:avLst/>
          </a:prstGeom>
          <a:solidFill>
            <a:srgbClr val="0C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920240"/>
          </a:xfrm>
          <a:prstGeom prst="rect">
            <a:avLst/>
          </a:prstGeom>
          <a:solidFill>
            <a:srgbClr val="0C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0"/>
            <a:ext cx="3227832" cy="1920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137160"/>
            <a:ext cx="1097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0" i="0">
                <a:solidFill>
                  <a:srgbClr val="FFFFFF"/>
                </a:solidFill>
                <a:latin typeface="Open Sans"/>
              </a:rPr>
              <a:t>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0"/>
            <a:ext cx="7315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ontserrat"/>
              </a:rPr>
              <a:t>Sedentary Behaviour — The Hidden Risk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920240"/>
            <a:ext cx="12188952" cy="4937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47472" y="2412187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103120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Sitting 6+ hours a day increases risk of heart disease by 40%</a:t>
            </a:r>
          </a:p>
        </p:txBody>
      </p:sp>
      <p:sp>
        <p:nvSpPr>
          <p:cNvPr id="11" name="Oval 10"/>
          <p:cNvSpPr/>
          <p:nvPr/>
        </p:nvSpPr>
        <p:spPr>
          <a:xfrm>
            <a:off x="347472" y="3359505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3050438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Screen time over 4 hours linked to depression in teens</a:t>
            </a:r>
          </a:p>
        </p:txBody>
      </p:sp>
      <p:sp>
        <p:nvSpPr>
          <p:cNvPr id="13" name="Oval 12"/>
          <p:cNvSpPr/>
          <p:nvPr/>
        </p:nvSpPr>
        <p:spPr>
          <a:xfrm>
            <a:off x="347472" y="4306824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3997756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Sedentary behaviour is independent of exercise — you can exercise daily and still sit too much</a:t>
            </a:r>
          </a:p>
        </p:txBody>
      </p:sp>
      <p:sp>
        <p:nvSpPr>
          <p:cNvPr id="15" name="Oval 14"/>
          <p:cNvSpPr/>
          <p:nvPr/>
        </p:nvSpPr>
        <p:spPr>
          <a:xfrm>
            <a:off x="347472" y="5254142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4945075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Take movement breaks: stand, stretch, or walk for 5 min every hour</a:t>
            </a:r>
          </a:p>
        </p:txBody>
      </p:sp>
      <p:sp>
        <p:nvSpPr>
          <p:cNvPr id="17" name="Oval 16"/>
          <p:cNvSpPr/>
          <p:nvPr/>
        </p:nvSpPr>
        <p:spPr>
          <a:xfrm>
            <a:off x="347472" y="6201460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" y="5892393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Replace screen time with active alternatives — sports, walking, dancing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Open Sans"/>
              </a:rPr>
              <a:t>Together For Health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002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600200"/>
          </a:xfrm>
          <a:prstGeom prst="rect">
            <a:avLst/>
          </a:prstGeom>
          <a:solidFill>
            <a:srgbClr val="0C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0"/>
            <a:ext cx="3227832" cy="1600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20040" y="91440"/>
            <a:ext cx="1005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i="0">
                <a:solidFill>
                  <a:srgbClr val="FFFFFF"/>
                </a:solidFill>
                <a:latin typeface="Open Sans"/>
              </a:rPr>
              <a:t>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0"/>
            <a:ext cx="84124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Montserrat"/>
              </a:rPr>
              <a:t>Building an Active Routine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" y="1737360"/>
            <a:ext cx="11759184" cy="88696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6032" y="1737360"/>
            <a:ext cx="182880" cy="88696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30352" y="1943100"/>
            <a:ext cx="475488" cy="475488"/>
          </a:xfrm>
          <a:prstGeom prst="ellipse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1943100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" y="1737360"/>
            <a:ext cx="1069848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11827"/>
                </a:solidFill>
                <a:latin typeface="Open Sans"/>
              </a:rPr>
              <a:t>Choose activities you actually enjoy — sustainability is key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032" y="2697479"/>
            <a:ext cx="11759184" cy="8869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56032" y="2697479"/>
            <a:ext cx="182880" cy="88696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30352" y="2903220"/>
            <a:ext cx="475488" cy="475488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2903220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" y="2697479"/>
            <a:ext cx="1069848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11827"/>
                </a:solidFill>
                <a:latin typeface="Open Sans"/>
              </a:rPr>
              <a:t>Start small: 15-20 min daily and build up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6032" y="3657600"/>
            <a:ext cx="11759184" cy="88696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6032" y="3657600"/>
            <a:ext cx="182880" cy="88696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30352" y="3863339"/>
            <a:ext cx="475488" cy="475488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" y="3863339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" y="3657600"/>
            <a:ext cx="1069848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11827"/>
                </a:solidFill>
                <a:latin typeface="Open Sans"/>
              </a:rPr>
              <a:t>Include all three types: cardio + strength + flexibility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6032" y="4617720"/>
            <a:ext cx="11759184" cy="8869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56032" y="4617720"/>
            <a:ext cx="182880" cy="886968"/>
          </a:xfrm>
          <a:prstGeom prst="rect">
            <a:avLst/>
          </a:prstGeom>
          <a:solidFill>
            <a:srgbClr val="0C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30352" y="4823460"/>
            <a:ext cx="475488" cy="475488"/>
          </a:xfrm>
          <a:prstGeom prst="ellipse">
            <a:avLst/>
          </a:prstGeom>
          <a:solidFill>
            <a:srgbClr val="0C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0352" y="4823460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" y="4617720"/>
            <a:ext cx="1069848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11827"/>
                </a:solidFill>
                <a:latin typeface="Open Sans"/>
              </a:rPr>
              <a:t>Use micro-movements: stairs not elevators, walk not ride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56032" y="5577840"/>
            <a:ext cx="11759184" cy="88696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56032" y="5577840"/>
            <a:ext cx="182880" cy="88696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30352" y="5783580"/>
            <a:ext cx="475488" cy="47548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0352" y="5783580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33856" y="5577840"/>
            <a:ext cx="1069848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11827"/>
                </a:solidFill>
                <a:latin typeface="Open Sans"/>
              </a:rPr>
              <a:t>Track progress — it increases motivation and consistency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432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Open Sans"/>
              </a:rPr>
              <a:t>Together For Health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4A6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25603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828800" y="-1828800"/>
            <a:ext cx="6400800" cy="6400800"/>
          </a:xfrm>
          <a:prstGeom prst="ellipse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29600" y="2743200"/>
            <a:ext cx="5486400" cy="54864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29984"/>
            <a:ext cx="12188952" cy="12801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0" y="1005840"/>
            <a:ext cx="121889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 i="0">
                <a:solidFill>
                  <a:srgbClr val="FFFFFF"/>
                </a:solidFill>
                <a:latin typeface="Open Sans"/>
              </a:rPr>
              <a:t>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94560"/>
            <a:ext cx="1072591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284C7"/>
                </a:solidFill>
                <a:latin typeface="Montserrat"/>
              </a:rPr>
              <a:t>Exercise Is Medicine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743200"/>
            <a:ext cx="10725912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Montserrat"/>
              </a:rPr>
              <a:t>Exercise reduces the risk of depression by 25% and improves academic performance by up to 15%.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0" y="5394960"/>
            <a:ext cx="7616952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5532120"/>
            <a:ext cx="999439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D4C0C8"/>
                </a:solidFill>
                <a:latin typeface="Open Sans"/>
              </a:rPr>
              <a:t>No prescription required, no side effects, no cost. The most powerful health intervention available.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0284C7"/>
                </a:solidFill>
                <a:latin typeface="Open Sans"/>
              </a:rPr>
              <a:t>Together For Health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8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828800" y="-1828800"/>
            <a:ext cx="6858000" cy="6858000"/>
          </a:xfrm>
          <a:prstGeom prst="ellipse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2926080"/>
            <a:ext cx="5486400" cy="54864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0" y="-1371600"/>
            <a:ext cx="4114800" cy="4114800"/>
          </a:xfrm>
          <a:prstGeom prst="ellipse">
            <a:avLst/>
          </a:prstGeom>
          <a:solidFill>
            <a:srgbClr val="0C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4592"/>
            <a:ext cx="1109167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284C7"/>
                </a:solidFill>
                <a:latin typeface="Montserrat"/>
              </a:rPr>
              <a:t>KEY TAKEAWAYS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786384"/>
            <a:ext cx="9445752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71600" y="1124712"/>
            <a:ext cx="438912" cy="438912"/>
          </a:xfrm>
          <a:prstGeom prst="ellipse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1124712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56816" y="960120"/>
            <a:ext cx="978408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FFFFFF"/>
                </a:solidFill>
                <a:latin typeface="Open Sans"/>
              </a:rPr>
              <a:t>Movement is the most accessible health intervention available</a:t>
            </a:r>
          </a:p>
        </p:txBody>
      </p:sp>
      <p:sp>
        <p:nvSpPr>
          <p:cNvPr id="12" name="Oval 11"/>
          <p:cNvSpPr/>
          <p:nvPr/>
        </p:nvSpPr>
        <p:spPr>
          <a:xfrm>
            <a:off x="1371600" y="1874520"/>
            <a:ext cx="438912" cy="438912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1874520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56816" y="1709928"/>
            <a:ext cx="978408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FFFFFF"/>
                </a:solidFill>
                <a:latin typeface="Open Sans"/>
              </a:rPr>
              <a:t>The benefits begin in minutes and last for hours</a:t>
            </a:r>
          </a:p>
        </p:txBody>
      </p:sp>
      <p:sp>
        <p:nvSpPr>
          <p:cNvPr id="15" name="Oval 14"/>
          <p:cNvSpPr/>
          <p:nvPr/>
        </p:nvSpPr>
        <p:spPr>
          <a:xfrm>
            <a:off x="1371600" y="2624328"/>
            <a:ext cx="438912" cy="438912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71600" y="2624328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56816" y="2459736"/>
            <a:ext cx="978408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FFFFFF"/>
                </a:solidFill>
                <a:latin typeface="Open Sans"/>
              </a:rPr>
              <a:t>You do not need a gym — your body is the equipment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3337560"/>
            <a:ext cx="10725912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0" y="3429000"/>
            <a:ext cx="12188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284C7"/>
                </a:solidFill>
                <a:latin typeface="Montserrat"/>
              </a:rPr>
              <a:t>Resources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813048"/>
            <a:ext cx="103601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DE8EE"/>
                </a:solidFill>
                <a:latin typeface="Open Sans"/>
              </a:rPr>
              <a:t>ParticipACTION: participaction.com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123944"/>
            <a:ext cx="103601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DE8EE"/>
                </a:solidFill>
                <a:latin typeface="Open Sans"/>
              </a:rPr>
              <a:t>Canada 24-Hour Movement Guidelines: csepguidelines.ca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434840"/>
            <a:ext cx="103601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DE8EE"/>
                </a:solidFill>
                <a:latin typeface="Open Sans"/>
              </a:rPr>
              <a:t>Try: 7-Minute Workout app — free, no equipment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284C7"/>
                </a:solidFill>
                <a:latin typeface="Open Sans"/>
              </a:rPr>
              <a:t>Together For Health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